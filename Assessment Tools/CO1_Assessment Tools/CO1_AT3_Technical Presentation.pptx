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6D48F-5073-4848-811E-F7349EDF8F42}" v="1" dt="2026-07-23T04:47:03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matha Jothiraj" userId="78a5e15d5d49e5cd" providerId="LiveId" clId="{9AEAD645-7474-4DFD-9192-6651CA993FA1}"/>
    <pc:docChg chg="undo custSel addSld modSld addSection delSection modSection">
      <pc:chgData name="Narmatha Jothiraj" userId="78a5e15d5d49e5cd" providerId="LiveId" clId="{9AEAD645-7474-4DFD-9192-6651CA993FA1}" dt="2026-07-23T04:47:44.994" v="64" actId="14100"/>
      <pc:docMkLst>
        <pc:docMk/>
      </pc:docMkLst>
      <pc:sldChg chg="addSp delSp modSp new mod modClrScheme chgLayout">
        <pc:chgData name="Narmatha Jothiraj" userId="78a5e15d5d49e5cd" providerId="LiveId" clId="{9AEAD645-7474-4DFD-9192-6651CA993FA1}" dt="2026-07-23T04:47:44.994" v="64" actId="14100"/>
        <pc:sldMkLst>
          <pc:docMk/>
          <pc:sldMk cId="1194416868" sldId="266"/>
        </pc:sldMkLst>
        <pc:spChg chg="add del mod">
          <ac:chgData name="Narmatha Jothiraj" userId="78a5e15d5d49e5cd" providerId="LiveId" clId="{9AEAD645-7474-4DFD-9192-6651CA993FA1}" dt="2026-07-23T04:45:23.501" v="3" actId="700"/>
          <ac:spMkLst>
            <pc:docMk/>
            <pc:sldMk cId="1194416868" sldId="266"/>
            <ac:spMk id="2" creationId="{91006E5A-6BBB-6DC6-E05F-D8AFFCA97847}"/>
          </ac:spMkLst>
        </pc:spChg>
        <pc:spChg chg="add del mod">
          <ac:chgData name="Narmatha Jothiraj" userId="78a5e15d5d49e5cd" providerId="LiveId" clId="{9AEAD645-7474-4DFD-9192-6651CA993FA1}" dt="2026-07-23T04:45:23.501" v="3" actId="700"/>
          <ac:spMkLst>
            <pc:docMk/>
            <pc:sldMk cId="1194416868" sldId="266"/>
            <ac:spMk id="3" creationId="{327D2B59-F678-47A1-B38F-4237DC236F8D}"/>
          </ac:spMkLst>
        </pc:spChg>
        <pc:spChg chg="add mod">
          <ac:chgData name="Narmatha Jothiraj" userId="78a5e15d5d49e5cd" providerId="LiveId" clId="{9AEAD645-7474-4DFD-9192-6651CA993FA1}" dt="2026-07-23T04:47:06.803" v="58" actId="20577"/>
          <ac:spMkLst>
            <pc:docMk/>
            <pc:sldMk cId="1194416868" sldId="266"/>
            <ac:spMk id="5" creationId="{548110EA-F757-3836-89F6-A9C66B383814}"/>
          </ac:spMkLst>
        </pc:spChg>
        <pc:picChg chg="add mod">
          <ac:chgData name="Narmatha Jothiraj" userId="78a5e15d5d49e5cd" providerId="LiveId" clId="{9AEAD645-7474-4DFD-9192-6651CA993FA1}" dt="2026-07-23T04:47:44.994" v="64" actId="14100"/>
          <ac:picMkLst>
            <pc:docMk/>
            <pc:sldMk cId="1194416868" sldId="266"/>
            <ac:picMk id="7" creationId="{71D28F19-DE66-93B0-7642-2F3E848F12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‹#›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charset="0"/>
                <a:ea typeface="等线" charset="0"/>
                <a:cs typeface="Calibri" charset="0"/>
              </a:rPr>
              <a:t>7/23/2026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6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137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charset="0"/>
        <a:ea typeface="等线" charset="0"/>
        <a:cs typeface="Calibri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3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555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2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7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173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9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70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465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2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83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974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1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32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484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6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6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33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7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6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77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56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8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5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96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0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9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6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07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20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Calibri" charset="0"/>
              </a:rPr>
              <a:t>10</a:t>
            </a:fld>
            <a:endParaRPr lang="zh-CN" altLang="en-US" sz="1200"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4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15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6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957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625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89747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2827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6868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0672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85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46057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1915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9687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113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8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79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 Light" charset="0"/>
          <a:ea typeface="等线 Light" charset="0"/>
          <a:cs typeface="Calibri Light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charset="0"/>
          <a:ea typeface="等线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"/>
          <p:cNvSpPr>
            <a:spLocks/>
          </p:cNvSpPr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 cap="flat" cmpd="sng">
            <a:noFill/>
            <a:prstDash val="solid"/>
            <a:miter/>
          </a:ln>
        </p:spPr>
      </p:sp>
      <p:sp>
        <p:nvSpPr>
          <p:cNvPr id="9" name="椭圆"/>
          <p:cNvSpPr>
            <a:spLocks/>
          </p:cNvSpPr>
          <p:nvPr/>
        </p:nvSpPr>
        <p:spPr>
          <a:xfrm>
            <a:off x="-2362185" y="6688426"/>
            <a:ext cx="3291840" cy="3291838"/>
          </a:xfrm>
          <a:prstGeom prst="ellipse">
            <a:avLst/>
          </a:prstGeom>
          <a:solidFill>
            <a:srgbClr val="3FC1C9">
              <a:alpha val="20000"/>
            </a:srgbClr>
          </a:solidFill>
          <a:ln w="12700" cap="flat" cmpd="sng">
            <a:noFill/>
            <a:prstDash val="solid"/>
            <a:miter/>
          </a:ln>
        </p:spPr>
      </p:sp>
      <p:sp>
        <p:nvSpPr>
          <p:cNvPr id="11" name="矩形"/>
          <p:cNvSpPr>
            <a:spLocks/>
          </p:cNvSpPr>
          <p:nvPr/>
        </p:nvSpPr>
        <p:spPr>
          <a:xfrm>
            <a:off x="548640" y="457200"/>
            <a:ext cx="1828800" cy="548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>
            <a:off x="548640" y="1491625"/>
            <a:ext cx="10515600" cy="11887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00" b="1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0"/>
                <a:cs typeface="Times New Roman" panose="02020603050405020304" pitchFamily="18" charset="0"/>
              </a:rPr>
              <a:t>DevOps &amp; CI/CD</a:t>
            </a:r>
            <a:endParaRPr lang="zh-CN" altLang="en-US" sz="54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>
            <a:off x="653413" y="2401495"/>
            <a:ext cx="10515600" cy="8541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0" i="1" u="none" strike="noStrike" kern="1200" cap="none" spc="0" baseline="0">
                <a:solidFill>
                  <a:srgbClr val="3FC1C9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 Cloud Computing</a:t>
            </a:r>
            <a:endParaRPr lang="zh-CN" altLang="en-US" sz="3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>
            <a:off x="672462" y="3350899"/>
            <a:ext cx="9143998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Principles, pipeline architecture, and practical implementation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24864" y="4989210"/>
            <a:ext cx="3178630" cy="9567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6" name="文本框"/>
          <p:cNvSpPr txBox="1">
            <a:spLocks/>
          </p:cNvSpPr>
          <p:nvPr/>
        </p:nvSpPr>
        <p:spPr>
          <a:xfrm>
            <a:off x="7035802" y="5430301"/>
            <a:ext cx="5408312" cy="9233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Narmatha .J (192521341)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Lakshna Sree . T. S (192524059)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altLang="zh-CN" sz="1800" b="0" i="0" u="none" strike="noStrike" kern="1200" cap="none" spc="0" baseline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Susannal</a:t>
            </a: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0" i="0" u="none" strike="noStrike" kern="1200" cap="none" spc="0" baseline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Devapriyam</a:t>
            </a: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(192525398)</a:t>
            </a:r>
            <a:endParaRPr lang="zh-CN" altLang="en-US" sz="1800" b="0" i="0" u="none" strike="noStrike" kern="1200" cap="none" spc="0" baseline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本框"/>
          <p:cNvSpPr txBox="1">
            <a:spLocks/>
          </p:cNvSpPr>
          <p:nvPr/>
        </p:nvSpPr>
        <p:spPr>
          <a:xfrm>
            <a:off x="2807827" y="4157849"/>
            <a:ext cx="727799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Droid Sans" charset="0"/>
                <a:ea typeface="宋体" charset="0"/>
                <a:cs typeface="Lucida Sans"/>
              </a:rPr>
              <a:t> CSA1507 -  CLOUD COMPUTING FOR BIG DATA ANALYSIS </a:t>
            </a:r>
            <a:endParaRPr lang="zh-CN" altLang="en-US" sz="1800" b="0" i="0" u="none" strike="noStrike" kern="1200" cap="none" spc="0" baseline="0">
              <a:solidFill>
                <a:srgbClr val="FFFFFF"/>
              </a:solidFill>
              <a:latin typeface="Droid Sans" charset="0"/>
              <a:ea typeface="宋体" charset="0"/>
              <a:cs typeface="Lucida Sans"/>
            </a:endParaRPr>
          </a:p>
        </p:txBody>
      </p:sp>
      <p:sp>
        <p:nvSpPr>
          <p:cNvPr id="218" name="文本框"/>
          <p:cNvSpPr txBox="1">
            <a:spLocks/>
          </p:cNvSpPr>
          <p:nvPr/>
        </p:nvSpPr>
        <p:spPr>
          <a:xfrm>
            <a:off x="7073682" y="4956209"/>
            <a:ext cx="3143125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Droid Sans" charset="0"/>
                <a:ea typeface="宋体" charset="0"/>
                <a:cs typeface="Lucida Sans"/>
              </a:rPr>
              <a:t>Presented by: 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Droid Sans" charset="0"/>
              <a:ea typeface="宋体" charset="0"/>
              <a:cs typeface="Lucida Sans"/>
            </a:endParaRPr>
          </a:p>
        </p:txBody>
      </p:sp>
      <p:sp>
        <p:nvSpPr>
          <p:cNvPr id="219" name="文本框"/>
          <p:cNvSpPr txBox="1">
            <a:spLocks/>
          </p:cNvSpPr>
          <p:nvPr/>
        </p:nvSpPr>
        <p:spPr>
          <a:xfrm>
            <a:off x="824864" y="5099007"/>
            <a:ext cx="4243603" cy="9233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C. Anuradha</a:t>
            </a:r>
            <a:endParaRPr lang="zh-CN" altLang="en-US" sz="1800" b="0" i="0" u="none" strike="noStrike" kern="1200" cap="none" spc="0" baseline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03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"/>
          <p:cNvSpPr>
            <a:spLocks/>
          </p:cNvSpPr>
          <p:nvPr/>
        </p:nvSpPr>
        <p:spPr>
          <a:xfrm>
            <a:off x="624837" y="21430"/>
            <a:ext cx="10058401" cy="7539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 dirty="0">
                <a:solidFill>
                  <a:srgbClr val="16213E"/>
                </a:solidFill>
                <a:latin typeface="Times New Roman" panose="02020603050405020304" pitchFamily="18" charset="0"/>
                <a:ea typeface="Cambria" pitchFamily="34" charset="0"/>
                <a:cs typeface="Times New Roman" panose="02020603050405020304" pitchFamily="18" charset="0"/>
              </a:rPr>
              <a:t>What is DevOps?</a:t>
            </a:r>
            <a:endParaRPr lang="zh-CN" altLang="en-US" sz="36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>
            <a:off x="548640" y="1051560"/>
            <a:ext cx="1051560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1" u="none" strike="noStrike" kern="1200" cap="none" spc="0" baseline="0" dirty="0">
                <a:solidFill>
                  <a:srgbClr val="5B6B79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A culture and set of practices that unify software development (Dev) and IT operations (Ops)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27" name="圆角矩形"/>
          <p:cNvSpPr>
            <a:spLocks/>
          </p:cNvSpPr>
          <p:nvPr/>
        </p:nvSpPr>
        <p:spPr>
          <a:xfrm>
            <a:off x="548640" y="1783080"/>
            <a:ext cx="5074920" cy="1965960"/>
          </a:xfrm>
          <a:prstGeom prst="roundRect">
            <a:avLst>
              <a:gd name="adj" fmla="val 5578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  <a:effectLst>
            <a:outerShdw blurRad="101600" dist="38100" dir="5400000" algn="bl" rotWithShape="0">
              <a:srgbClr val="365E7D">
                <a:alpha val="17647"/>
              </a:srgbClr>
            </a:outerShdw>
          </a:effectLst>
        </p:spPr>
      </p:sp>
      <p:sp>
        <p:nvSpPr>
          <p:cNvPr id="28" name="椭圆"/>
          <p:cNvSpPr>
            <a:spLocks/>
          </p:cNvSpPr>
          <p:nvPr/>
        </p:nvSpPr>
        <p:spPr>
          <a:xfrm>
            <a:off x="822960" y="2057400"/>
            <a:ext cx="502919" cy="502919"/>
          </a:xfrm>
          <a:prstGeom prst="ellipse">
            <a:avLst/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29" name="图片" descr="/home/claude/devops-ppt/icons/collaboration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932688" y="2167128"/>
            <a:ext cx="283464" cy="2834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0" name="矩形"/>
          <p:cNvSpPr>
            <a:spLocks/>
          </p:cNvSpPr>
          <p:nvPr/>
        </p:nvSpPr>
        <p:spPr>
          <a:xfrm>
            <a:off x="1508758" y="2039112"/>
            <a:ext cx="388620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16213E"/>
                </a:solidFill>
                <a:latin typeface="Times New Roman" panose="02020603050405020304" pitchFamily="18" charset="0"/>
                <a:ea typeface="Cambria" pitchFamily="34" charset="0"/>
                <a:cs typeface="Times New Roman" panose="02020603050405020304" pitchFamily="18" charset="0"/>
              </a:rPr>
              <a:t>Collaboration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>
            <a:off x="675534" y="2680872"/>
            <a:ext cx="4719424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 dirty="0">
                <a:solidFill>
                  <a:srgbClr val="5B6B79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Breaks down silos between developers, testers, and operations teams.</a:t>
            </a:r>
            <a:endParaRPr lang="zh-CN" altLang="en-US" sz="23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"/>
          <p:cNvSpPr>
            <a:spLocks/>
          </p:cNvSpPr>
          <p:nvPr/>
        </p:nvSpPr>
        <p:spPr>
          <a:xfrm>
            <a:off x="5989320" y="1783080"/>
            <a:ext cx="5074920" cy="1965960"/>
          </a:xfrm>
          <a:prstGeom prst="roundRect">
            <a:avLst>
              <a:gd name="adj" fmla="val 5578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  <a:effectLst>
            <a:outerShdw blurRad="101600" dist="38100" dir="5400000" algn="bl" rotWithShape="0">
              <a:srgbClr val="365E7D">
                <a:alpha val="17647"/>
              </a:srgbClr>
            </a:outerShdw>
          </a:effectLst>
        </p:spPr>
      </p:sp>
      <p:sp>
        <p:nvSpPr>
          <p:cNvPr id="33" name="椭圆"/>
          <p:cNvSpPr>
            <a:spLocks/>
          </p:cNvSpPr>
          <p:nvPr/>
        </p:nvSpPr>
        <p:spPr>
          <a:xfrm>
            <a:off x="6263640" y="2057400"/>
            <a:ext cx="502919" cy="502919"/>
          </a:xfrm>
          <a:prstGeom prst="ellipse">
            <a:avLst/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34" name="图片" descr="/home/claude/devops-ppt/icons/automation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6373367" y="2167128"/>
            <a:ext cx="283463" cy="2834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5" name="矩形"/>
          <p:cNvSpPr>
            <a:spLocks/>
          </p:cNvSpPr>
          <p:nvPr/>
        </p:nvSpPr>
        <p:spPr>
          <a:xfrm>
            <a:off x="6949440" y="2039112"/>
            <a:ext cx="388620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16213E"/>
                </a:solidFill>
                <a:latin typeface="Times New Roman" panose="02020603050405020304" pitchFamily="18" charset="0"/>
                <a:ea typeface="Cambria" pitchFamily="34" charset="0"/>
                <a:cs typeface="Times New Roman" panose="02020603050405020304" pitchFamily="18" charset="0"/>
              </a:rPr>
              <a:t>Automation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>
            <a:off x="6263640" y="2697480"/>
            <a:ext cx="452628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 dirty="0">
                <a:solidFill>
                  <a:srgbClr val="5B6B79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Automates build, test, and deployment steps to remove manual bottlenecks.</a:t>
            </a:r>
            <a:endParaRPr lang="zh-CN" altLang="en-US" sz="22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sp>
        <p:nvSpPr>
          <p:cNvPr id="37" name="圆角矩形"/>
          <p:cNvSpPr>
            <a:spLocks/>
          </p:cNvSpPr>
          <p:nvPr/>
        </p:nvSpPr>
        <p:spPr>
          <a:xfrm>
            <a:off x="548640" y="4069080"/>
            <a:ext cx="5074920" cy="1965958"/>
          </a:xfrm>
          <a:prstGeom prst="roundRect">
            <a:avLst>
              <a:gd name="adj" fmla="val 5578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  <a:effectLst>
            <a:outerShdw blurRad="101600" dist="38100" dir="5400000" algn="bl" rotWithShape="0">
              <a:srgbClr val="365E7D">
                <a:alpha val="17647"/>
              </a:srgbClr>
            </a:outerShdw>
          </a:effectLst>
        </p:spPr>
      </p:sp>
      <p:sp>
        <p:nvSpPr>
          <p:cNvPr id="38" name="椭圆"/>
          <p:cNvSpPr>
            <a:spLocks/>
          </p:cNvSpPr>
          <p:nvPr/>
        </p:nvSpPr>
        <p:spPr>
          <a:xfrm>
            <a:off x="822960" y="4343400"/>
            <a:ext cx="502919" cy="502920"/>
          </a:xfrm>
          <a:prstGeom prst="ellipse">
            <a:avLst/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39" name="图片" descr="/home/claude/devops-ppt/icons/improvement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932688" y="4453128"/>
            <a:ext cx="283464" cy="2834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0" name="矩形"/>
          <p:cNvSpPr>
            <a:spLocks/>
          </p:cNvSpPr>
          <p:nvPr/>
        </p:nvSpPr>
        <p:spPr>
          <a:xfrm>
            <a:off x="1508758" y="4325112"/>
            <a:ext cx="3886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Continuous Improvement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>
            <a:off x="822960" y="4983480"/>
            <a:ext cx="452628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Uses feedback loops and monitoring to iterate rapidly and reliably.</a:t>
            </a:r>
            <a:endParaRPr lang="zh-CN" altLang="en-US" sz="2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2" name="圆角矩形"/>
          <p:cNvSpPr>
            <a:spLocks/>
          </p:cNvSpPr>
          <p:nvPr/>
        </p:nvSpPr>
        <p:spPr>
          <a:xfrm>
            <a:off x="5989320" y="4069080"/>
            <a:ext cx="5074920" cy="1965958"/>
          </a:xfrm>
          <a:prstGeom prst="roundRect">
            <a:avLst>
              <a:gd name="adj" fmla="val 5578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  <a:effectLst>
            <a:outerShdw blurRad="101600" dist="38100" dir="5400000" algn="bl" rotWithShape="0">
              <a:srgbClr val="365E7D">
                <a:alpha val="17647"/>
              </a:srgbClr>
            </a:outerShdw>
          </a:effectLst>
        </p:spPr>
      </p:sp>
      <p:sp>
        <p:nvSpPr>
          <p:cNvPr id="43" name="椭圆"/>
          <p:cNvSpPr>
            <a:spLocks/>
          </p:cNvSpPr>
          <p:nvPr/>
        </p:nvSpPr>
        <p:spPr>
          <a:xfrm>
            <a:off x="6263640" y="4343400"/>
            <a:ext cx="502919" cy="502920"/>
          </a:xfrm>
          <a:prstGeom prst="ellipse">
            <a:avLst/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44" name="图片" descr="/home/claude/devops-ppt/icons/shared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6373367" y="4453128"/>
            <a:ext cx="283463" cy="2834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5" name="矩形"/>
          <p:cNvSpPr>
            <a:spLocks/>
          </p:cNvSpPr>
          <p:nvPr/>
        </p:nvSpPr>
        <p:spPr>
          <a:xfrm>
            <a:off x="6949440" y="4325112"/>
            <a:ext cx="38862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Shared Responsibility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6263640" y="4983480"/>
            <a:ext cx="4526280" cy="9144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Teams jointly own reliability, security, and speed of delivery.</a:t>
            </a:r>
            <a:endParaRPr lang="zh-CN" altLang="en-US" sz="2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68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"/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DevOps Lifecycle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>
            <a:off x="586739" y="1289681"/>
            <a:ext cx="105156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1" u="none" strike="noStrike" kern="1200" cap="none" spc="0" baseline="0" dirty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An infinite loop of planning, building, and operating</a:t>
            </a:r>
            <a:endParaRPr lang="zh-CN" altLang="en-US" sz="24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1" name="圆角矩形"/>
          <p:cNvSpPr>
            <a:spLocks/>
          </p:cNvSpPr>
          <p:nvPr/>
        </p:nvSpPr>
        <p:spPr>
          <a:xfrm>
            <a:off x="5372100" y="2045513"/>
            <a:ext cx="1417319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52" name="矩形"/>
          <p:cNvSpPr>
            <a:spLocks/>
          </p:cNvSpPr>
          <p:nvPr/>
        </p:nvSpPr>
        <p:spPr>
          <a:xfrm>
            <a:off x="5372100" y="2045513"/>
            <a:ext cx="1417319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Plan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3" name="圆角矩形"/>
          <p:cNvSpPr>
            <a:spLocks/>
          </p:cNvSpPr>
          <p:nvPr/>
        </p:nvSpPr>
        <p:spPr>
          <a:xfrm>
            <a:off x="6762244" y="2517682"/>
            <a:ext cx="1417319" cy="640079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54" name="矩形"/>
          <p:cNvSpPr>
            <a:spLocks/>
          </p:cNvSpPr>
          <p:nvPr/>
        </p:nvSpPr>
        <p:spPr>
          <a:xfrm>
            <a:off x="6762244" y="2517682"/>
            <a:ext cx="141731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Code</a:t>
            </a:r>
            <a:endParaRPr lang="zh-CN" altLang="en-US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5" name="圆角矩形"/>
          <p:cNvSpPr>
            <a:spLocks/>
          </p:cNvSpPr>
          <p:nvPr/>
        </p:nvSpPr>
        <p:spPr>
          <a:xfrm>
            <a:off x="7338060" y="3657600"/>
            <a:ext cx="1417319" cy="640079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56" name="矩形"/>
          <p:cNvSpPr>
            <a:spLocks/>
          </p:cNvSpPr>
          <p:nvPr/>
        </p:nvSpPr>
        <p:spPr>
          <a:xfrm>
            <a:off x="7338060" y="3657600"/>
            <a:ext cx="141731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Build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7" name="圆角矩形"/>
          <p:cNvSpPr>
            <a:spLocks/>
          </p:cNvSpPr>
          <p:nvPr/>
        </p:nvSpPr>
        <p:spPr>
          <a:xfrm>
            <a:off x="6762244" y="4797518"/>
            <a:ext cx="1417319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58" name="矩形"/>
          <p:cNvSpPr>
            <a:spLocks/>
          </p:cNvSpPr>
          <p:nvPr/>
        </p:nvSpPr>
        <p:spPr>
          <a:xfrm>
            <a:off x="6762244" y="4797518"/>
            <a:ext cx="1417319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Test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59" name="圆角矩形"/>
          <p:cNvSpPr>
            <a:spLocks/>
          </p:cNvSpPr>
          <p:nvPr/>
        </p:nvSpPr>
        <p:spPr>
          <a:xfrm>
            <a:off x="5372100" y="5269687"/>
            <a:ext cx="1417319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60" name="矩形"/>
          <p:cNvSpPr>
            <a:spLocks/>
          </p:cNvSpPr>
          <p:nvPr/>
        </p:nvSpPr>
        <p:spPr>
          <a:xfrm>
            <a:off x="5372100" y="5269687"/>
            <a:ext cx="1417319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Release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1" name="圆角矩形"/>
          <p:cNvSpPr>
            <a:spLocks/>
          </p:cNvSpPr>
          <p:nvPr/>
        </p:nvSpPr>
        <p:spPr>
          <a:xfrm>
            <a:off x="3981956" y="4797518"/>
            <a:ext cx="141732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62" name="矩形"/>
          <p:cNvSpPr>
            <a:spLocks/>
          </p:cNvSpPr>
          <p:nvPr/>
        </p:nvSpPr>
        <p:spPr>
          <a:xfrm>
            <a:off x="3981956" y="4797518"/>
            <a:ext cx="1417320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Deploy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3" name="圆角矩形"/>
          <p:cNvSpPr>
            <a:spLocks/>
          </p:cNvSpPr>
          <p:nvPr/>
        </p:nvSpPr>
        <p:spPr>
          <a:xfrm>
            <a:off x="3406140" y="3657600"/>
            <a:ext cx="1417320" cy="640079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64" name="矩形"/>
          <p:cNvSpPr>
            <a:spLocks/>
          </p:cNvSpPr>
          <p:nvPr/>
        </p:nvSpPr>
        <p:spPr>
          <a:xfrm>
            <a:off x="3406140" y="3657600"/>
            <a:ext cx="14173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Operate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5" name="圆角矩形"/>
          <p:cNvSpPr>
            <a:spLocks/>
          </p:cNvSpPr>
          <p:nvPr/>
        </p:nvSpPr>
        <p:spPr>
          <a:xfrm>
            <a:off x="3981956" y="2517682"/>
            <a:ext cx="1417320" cy="640079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9050" cap="flat" cmpd="sng">
            <a:solidFill>
              <a:srgbClr val="3FC1C9"/>
            </a:solidFill>
            <a:prstDash val="solid"/>
            <a:round/>
          </a:ln>
        </p:spPr>
      </p:sp>
      <p:sp>
        <p:nvSpPr>
          <p:cNvPr id="66" name="矩形"/>
          <p:cNvSpPr>
            <a:spLocks/>
          </p:cNvSpPr>
          <p:nvPr/>
        </p:nvSpPr>
        <p:spPr>
          <a:xfrm>
            <a:off x="3981956" y="2517682"/>
            <a:ext cx="14173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Monitor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67" name="椭圆"/>
          <p:cNvSpPr>
            <a:spLocks/>
          </p:cNvSpPr>
          <p:nvPr/>
        </p:nvSpPr>
        <p:spPr>
          <a:xfrm>
            <a:off x="5303520" y="3200400"/>
            <a:ext cx="1554480" cy="1554480"/>
          </a:xfrm>
          <a:prstGeom prst="ellipse">
            <a:avLst/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68" name="矩形"/>
          <p:cNvSpPr>
            <a:spLocks/>
          </p:cNvSpPr>
          <p:nvPr/>
        </p:nvSpPr>
        <p:spPr>
          <a:xfrm>
            <a:off x="5303520" y="3200400"/>
            <a:ext cx="1554480" cy="15544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21295C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DevOps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44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"/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What is CI/CD?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2" name="圆角矩形"/>
          <p:cNvSpPr>
            <a:spLocks/>
          </p:cNvSpPr>
          <p:nvPr/>
        </p:nvSpPr>
        <p:spPr>
          <a:xfrm>
            <a:off x="548640" y="137160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sp>
        <p:nvSpPr>
          <p:cNvPr id="73" name="椭圆"/>
          <p:cNvSpPr>
            <a:spLocks/>
          </p:cNvSpPr>
          <p:nvPr/>
        </p:nvSpPr>
        <p:spPr>
          <a:xfrm>
            <a:off x="868680" y="1664208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noFill/>
            <a:prstDash val="solid"/>
            <a:miter/>
          </a:ln>
        </p:spPr>
      </p:sp>
      <p:pic>
        <p:nvPicPr>
          <p:cNvPr id="74" name="图片" descr="/home/claude/devops-ppt/icons/ci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996696" y="1792224"/>
            <a:ext cx="292608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5" name="矩形"/>
          <p:cNvSpPr>
            <a:spLocks/>
          </p:cNvSpPr>
          <p:nvPr/>
        </p:nvSpPr>
        <p:spPr>
          <a:xfrm>
            <a:off x="1554480" y="1627632"/>
            <a:ext cx="3794758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Continuous Integration (CI)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>
            <a:off x="594361" y="2335413"/>
            <a:ext cx="5074919" cy="339418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Continuous Integration is the practice of frequently merging code changes into a shared repository, where the code is automatically built and tested.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How it works: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A developer writes code.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The code is pushed to a Git repository (such as GitHub).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A CI tool automatically: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Builds the application.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Times New Roman" panose="02020603050405020304" pitchFamily="18" charset="0"/>
                <a:ea typeface="Calibri" charset="0"/>
                <a:cs typeface="Times New Roman" panose="02020603050405020304" pitchFamily="18" charset="0"/>
              </a:rPr>
              <a:t>Runs automated tests.</a:t>
            </a:r>
            <a:endParaRPr lang="en-US" altLang="zh-CN" sz="15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5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If all tests pass, the code is ready for the next stage.</a:t>
            </a:r>
            <a:endParaRPr lang="zh-CN" altLang="en-US" sz="15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77" name="圆角矩形"/>
          <p:cNvSpPr>
            <a:spLocks/>
          </p:cNvSpPr>
          <p:nvPr/>
        </p:nvSpPr>
        <p:spPr>
          <a:xfrm>
            <a:off x="5989320" y="137160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sp>
        <p:nvSpPr>
          <p:cNvPr id="78" name="椭圆"/>
          <p:cNvSpPr>
            <a:spLocks/>
          </p:cNvSpPr>
          <p:nvPr/>
        </p:nvSpPr>
        <p:spPr>
          <a:xfrm>
            <a:off x="6309360" y="1664208"/>
            <a:ext cx="548640" cy="5486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noFill/>
            <a:prstDash val="solid"/>
            <a:miter/>
          </a:ln>
        </p:spPr>
      </p:sp>
      <p:pic>
        <p:nvPicPr>
          <p:cNvPr id="79" name="图片" descr="/home/claude/devops-ppt/icons/cd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6437376" y="1792224"/>
            <a:ext cx="292606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80" name="矩形"/>
          <p:cNvSpPr>
            <a:spLocks/>
          </p:cNvSpPr>
          <p:nvPr/>
        </p:nvSpPr>
        <p:spPr>
          <a:xfrm>
            <a:off x="6995160" y="1627632"/>
            <a:ext cx="379476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Continuous Delivery / Deployment (CD)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>
            <a:off x="6309360" y="2514600"/>
            <a:ext cx="4434840" cy="38022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6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Continuous Delivery ensures that software is always ready to be released. After CI completes successfully, the application is prepared for deployment, but a manual approval is usually required before releasing it to users.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Benefits: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6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Faster releases.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6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Lower deployment risk.</a:t>
            </a:r>
            <a:endParaRPr lang="en-US" altLang="zh-CN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Char char="•"/>
            </a:pPr>
            <a:r>
              <a:rPr lang="en-US" altLang="zh-CN" sz="1600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Reliable release process.</a:t>
            </a:r>
            <a:endParaRPr lang="zh-CN" altLang="en-US" sz="1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2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"/>
          <p:cNvSpPr>
            <a:spLocks/>
          </p:cNvSpPr>
          <p:nvPr/>
        </p:nvSpPr>
        <p:spPr>
          <a:xfrm>
            <a:off x="548640" y="365760"/>
            <a:ext cx="10515600" cy="6400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CI/CD Pipeline Architecture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>
            <a:off x="548640" y="1005839"/>
            <a:ext cx="1051560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A typical automated pipeline from commit to production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>
            <a:off x="548640" y="2194560"/>
            <a:ext cx="1691639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87" name="椭圆"/>
          <p:cNvSpPr>
            <a:spLocks/>
          </p:cNvSpPr>
          <p:nvPr/>
        </p:nvSpPr>
        <p:spPr>
          <a:xfrm>
            <a:off x="1138428" y="2395728"/>
            <a:ext cx="512063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88" name="图片" descr="/home/claude/devops-ppt/icons/source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1248155" y="2505456"/>
            <a:ext cx="292607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89" name="矩形"/>
          <p:cNvSpPr>
            <a:spLocks/>
          </p:cNvSpPr>
          <p:nvPr/>
        </p:nvSpPr>
        <p:spPr>
          <a:xfrm>
            <a:off x="640080" y="2971799"/>
            <a:ext cx="1508759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Source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0" name="矩形"/>
          <p:cNvSpPr>
            <a:spLocks/>
          </p:cNvSpPr>
          <p:nvPr/>
        </p:nvSpPr>
        <p:spPr>
          <a:xfrm>
            <a:off x="640080" y="3310127"/>
            <a:ext cx="1508759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Code pushed to Git repo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1" name="右箭头"/>
          <p:cNvSpPr>
            <a:spLocks/>
          </p:cNvSpPr>
          <p:nvPr/>
        </p:nvSpPr>
        <p:spPr>
          <a:xfrm>
            <a:off x="2240280" y="2862072"/>
            <a:ext cx="73150" cy="219455"/>
          </a:xfrm>
          <a:prstGeom prst="rightArrow">
            <a:avLst>
              <a:gd name="adj1" fmla="val 50000"/>
              <a:gd name="adj2" fmla="val 8331"/>
            </a:avLst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92" name="圆角矩形"/>
          <p:cNvSpPr>
            <a:spLocks/>
          </p:cNvSpPr>
          <p:nvPr/>
        </p:nvSpPr>
        <p:spPr>
          <a:xfrm>
            <a:off x="2313432" y="2194560"/>
            <a:ext cx="1691639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93" name="椭圆"/>
          <p:cNvSpPr>
            <a:spLocks/>
          </p:cNvSpPr>
          <p:nvPr/>
        </p:nvSpPr>
        <p:spPr>
          <a:xfrm>
            <a:off x="2903220" y="2395728"/>
            <a:ext cx="512064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94" name="图片" descr="/home/claude/devops-ppt/icons/build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3012948" y="2505456"/>
            <a:ext cx="292607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95" name="矩形"/>
          <p:cNvSpPr>
            <a:spLocks/>
          </p:cNvSpPr>
          <p:nvPr/>
        </p:nvSpPr>
        <p:spPr>
          <a:xfrm>
            <a:off x="2404872" y="2971799"/>
            <a:ext cx="1508758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Build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6" name="矩形"/>
          <p:cNvSpPr>
            <a:spLocks/>
          </p:cNvSpPr>
          <p:nvPr/>
        </p:nvSpPr>
        <p:spPr>
          <a:xfrm>
            <a:off x="2404872" y="3310127"/>
            <a:ext cx="1508758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Compile &amp; package app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97" name="右箭头"/>
          <p:cNvSpPr>
            <a:spLocks/>
          </p:cNvSpPr>
          <p:nvPr/>
        </p:nvSpPr>
        <p:spPr>
          <a:xfrm>
            <a:off x="4005072" y="2862072"/>
            <a:ext cx="73151" cy="219455"/>
          </a:xfrm>
          <a:prstGeom prst="rightArrow">
            <a:avLst>
              <a:gd name="adj1" fmla="val 50000"/>
              <a:gd name="adj2" fmla="val 8331"/>
            </a:avLst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98" name="圆角矩形"/>
          <p:cNvSpPr>
            <a:spLocks/>
          </p:cNvSpPr>
          <p:nvPr/>
        </p:nvSpPr>
        <p:spPr>
          <a:xfrm>
            <a:off x="4078224" y="2194560"/>
            <a:ext cx="1691639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99" name="椭圆"/>
          <p:cNvSpPr>
            <a:spLocks/>
          </p:cNvSpPr>
          <p:nvPr/>
        </p:nvSpPr>
        <p:spPr>
          <a:xfrm>
            <a:off x="4668012" y="2395728"/>
            <a:ext cx="512064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00" name="图片" descr="/home/claude/devops-ppt/icons/test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4777740" y="2505456"/>
            <a:ext cx="292608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01" name="矩形"/>
          <p:cNvSpPr>
            <a:spLocks/>
          </p:cNvSpPr>
          <p:nvPr/>
        </p:nvSpPr>
        <p:spPr>
          <a:xfrm>
            <a:off x="4169664" y="2971799"/>
            <a:ext cx="1508758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Test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2" name="矩形"/>
          <p:cNvSpPr>
            <a:spLocks/>
          </p:cNvSpPr>
          <p:nvPr/>
        </p:nvSpPr>
        <p:spPr>
          <a:xfrm>
            <a:off x="4169664" y="3310127"/>
            <a:ext cx="1508758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Unit &amp; integration tests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3" name="右箭头"/>
          <p:cNvSpPr>
            <a:spLocks/>
          </p:cNvSpPr>
          <p:nvPr/>
        </p:nvSpPr>
        <p:spPr>
          <a:xfrm>
            <a:off x="5769864" y="2862072"/>
            <a:ext cx="73150" cy="219455"/>
          </a:xfrm>
          <a:prstGeom prst="rightArrow">
            <a:avLst>
              <a:gd name="adj1" fmla="val 50000"/>
              <a:gd name="adj2" fmla="val 8331"/>
            </a:avLst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104" name="圆角矩形"/>
          <p:cNvSpPr>
            <a:spLocks/>
          </p:cNvSpPr>
          <p:nvPr/>
        </p:nvSpPr>
        <p:spPr>
          <a:xfrm>
            <a:off x="5843016" y="2194560"/>
            <a:ext cx="1691639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105" name="椭圆"/>
          <p:cNvSpPr>
            <a:spLocks/>
          </p:cNvSpPr>
          <p:nvPr/>
        </p:nvSpPr>
        <p:spPr>
          <a:xfrm>
            <a:off x="6432804" y="2395728"/>
            <a:ext cx="512063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06" name="图片" descr="/home/claude/devops-ppt/icons/package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6542532" y="2505456"/>
            <a:ext cx="292606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07" name="矩形"/>
          <p:cNvSpPr>
            <a:spLocks/>
          </p:cNvSpPr>
          <p:nvPr/>
        </p:nvSpPr>
        <p:spPr>
          <a:xfrm>
            <a:off x="5934456" y="2971799"/>
            <a:ext cx="1508758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Package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>
            <a:off x="5934456" y="3310127"/>
            <a:ext cx="1508758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Create deployable artifact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09" name="右箭头"/>
          <p:cNvSpPr>
            <a:spLocks/>
          </p:cNvSpPr>
          <p:nvPr/>
        </p:nvSpPr>
        <p:spPr>
          <a:xfrm>
            <a:off x="7534656" y="2862072"/>
            <a:ext cx="73150" cy="219455"/>
          </a:xfrm>
          <a:prstGeom prst="rightArrow">
            <a:avLst>
              <a:gd name="adj1" fmla="val 50000"/>
              <a:gd name="adj2" fmla="val 8331"/>
            </a:avLst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110" name="圆角矩形"/>
          <p:cNvSpPr>
            <a:spLocks/>
          </p:cNvSpPr>
          <p:nvPr/>
        </p:nvSpPr>
        <p:spPr>
          <a:xfrm>
            <a:off x="7607807" y="2194560"/>
            <a:ext cx="1691639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111" name="椭圆"/>
          <p:cNvSpPr>
            <a:spLocks/>
          </p:cNvSpPr>
          <p:nvPr/>
        </p:nvSpPr>
        <p:spPr>
          <a:xfrm>
            <a:off x="8197595" y="2395728"/>
            <a:ext cx="512063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12" name="图片" descr="/home/claude/devops-ppt/icons/deploy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8307324" y="2505456"/>
            <a:ext cx="292606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13" name="矩形"/>
          <p:cNvSpPr>
            <a:spLocks/>
          </p:cNvSpPr>
          <p:nvPr/>
        </p:nvSpPr>
        <p:spPr>
          <a:xfrm>
            <a:off x="7699247" y="2971799"/>
            <a:ext cx="1508758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Deploy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4" name="矩形"/>
          <p:cNvSpPr>
            <a:spLocks/>
          </p:cNvSpPr>
          <p:nvPr/>
        </p:nvSpPr>
        <p:spPr>
          <a:xfrm>
            <a:off x="7699247" y="3310127"/>
            <a:ext cx="1508758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Release to cloud env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15" name="右箭头"/>
          <p:cNvSpPr>
            <a:spLocks/>
          </p:cNvSpPr>
          <p:nvPr/>
        </p:nvSpPr>
        <p:spPr>
          <a:xfrm>
            <a:off x="9299448" y="2862072"/>
            <a:ext cx="73150" cy="219455"/>
          </a:xfrm>
          <a:prstGeom prst="rightArrow">
            <a:avLst>
              <a:gd name="adj1" fmla="val 50000"/>
              <a:gd name="adj2" fmla="val 8331"/>
            </a:avLst>
          </a:prstGeom>
          <a:solidFill>
            <a:srgbClr val="3FC1C9"/>
          </a:solidFill>
          <a:ln w="12700" cap="flat" cmpd="sng">
            <a:noFill/>
            <a:prstDash val="solid"/>
            <a:miter/>
          </a:ln>
        </p:spPr>
      </p:sp>
      <p:sp>
        <p:nvSpPr>
          <p:cNvPr id="116" name="圆角矩形"/>
          <p:cNvSpPr>
            <a:spLocks/>
          </p:cNvSpPr>
          <p:nvPr/>
        </p:nvSpPr>
        <p:spPr>
          <a:xfrm>
            <a:off x="9372600" y="2194560"/>
            <a:ext cx="1691640" cy="1554480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 w="15875" cap="flat" cmpd="sng">
            <a:solidFill>
              <a:srgbClr val="1C7293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4509"/>
              </a:srgbClr>
            </a:outerShdw>
          </a:effectLst>
        </p:spPr>
      </p:sp>
      <p:sp>
        <p:nvSpPr>
          <p:cNvPr id="117" name="椭圆"/>
          <p:cNvSpPr>
            <a:spLocks/>
          </p:cNvSpPr>
          <p:nvPr/>
        </p:nvSpPr>
        <p:spPr>
          <a:xfrm>
            <a:off x="9962388" y="2395728"/>
            <a:ext cx="512064" cy="512064"/>
          </a:xfrm>
          <a:prstGeom prst="ellipse">
            <a:avLst/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18" name="图片" descr="/home/claude/devops-ppt/icons/monitor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10072116" y="2505456"/>
            <a:ext cx="292606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19" name="矩形"/>
          <p:cNvSpPr>
            <a:spLocks/>
          </p:cNvSpPr>
          <p:nvPr/>
        </p:nvSpPr>
        <p:spPr>
          <a:xfrm>
            <a:off x="9464040" y="2971799"/>
            <a:ext cx="1508760" cy="3657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Monitor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>
            <a:off x="9464040" y="3310127"/>
            <a:ext cx="1508760" cy="4114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50" b="0" i="0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Observe &amp; alert in prod</a:t>
            </a:r>
            <a:endParaRPr lang="zh-CN" altLang="en-US" sz="12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1" name="圆角矩形"/>
          <p:cNvSpPr>
            <a:spLocks/>
          </p:cNvSpPr>
          <p:nvPr/>
        </p:nvSpPr>
        <p:spPr>
          <a:xfrm>
            <a:off x="548640" y="4343400"/>
            <a:ext cx="2468878" cy="502920"/>
          </a:xfrm>
          <a:prstGeom prst="roundRect">
            <a:avLst>
              <a:gd name="adj" fmla="val 50907"/>
            </a:avLst>
          </a:prstGeom>
          <a:solidFill>
            <a:srgbClr val="21295C"/>
          </a:solidFill>
          <a:ln w="12700" cap="flat" cmpd="sng">
            <a:noFill/>
            <a:prstDash val="solid"/>
            <a:miter/>
          </a:ln>
        </p:spPr>
      </p:sp>
      <p:sp>
        <p:nvSpPr>
          <p:cNvPr id="122" name="矩形"/>
          <p:cNvSpPr>
            <a:spLocks/>
          </p:cNvSpPr>
          <p:nvPr/>
        </p:nvSpPr>
        <p:spPr>
          <a:xfrm>
            <a:off x="548640" y="4343400"/>
            <a:ext cx="2468878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Version Control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3" name="圆角矩形"/>
          <p:cNvSpPr>
            <a:spLocks/>
          </p:cNvSpPr>
          <p:nvPr/>
        </p:nvSpPr>
        <p:spPr>
          <a:xfrm>
            <a:off x="3246120" y="4343400"/>
            <a:ext cx="2468880" cy="502920"/>
          </a:xfrm>
          <a:prstGeom prst="roundRect">
            <a:avLst>
              <a:gd name="adj" fmla="val 50907"/>
            </a:avLst>
          </a:prstGeom>
          <a:solidFill>
            <a:srgbClr val="21295C"/>
          </a:solidFill>
          <a:ln w="12700" cap="flat" cmpd="sng">
            <a:noFill/>
            <a:prstDash val="solid"/>
            <a:miter/>
          </a:ln>
        </p:spPr>
      </p:sp>
      <p:sp>
        <p:nvSpPr>
          <p:cNvPr id="124" name="矩形"/>
          <p:cNvSpPr>
            <a:spLocks/>
          </p:cNvSpPr>
          <p:nvPr/>
        </p:nvSpPr>
        <p:spPr>
          <a:xfrm>
            <a:off x="3246120" y="4343400"/>
            <a:ext cx="2468880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Infrastructure as Code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5" name="圆角矩形"/>
          <p:cNvSpPr>
            <a:spLocks/>
          </p:cNvSpPr>
          <p:nvPr/>
        </p:nvSpPr>
        <p:spPr>
          <a:xfrm>
            <a:off x="5943599" y="4343400"/>
            <a:ext cx="2468879" cy="502920"/>
          </a:xfrm>
          <a:prstGeom prst="roundRect">
            <a:avLst>
              <a:gd name="adj" fmla="val 50907"/>
            </a:avLst>
          </a:prstGeom>
          <a:solidFill>
            <a:srgbClr val="21295C"/>
          </a:solidFill>
          <a:ln w="12700" cap="flat" cmpd="sng">
            <a:noFill/>
            <a:prstDash val="solid"/>
            <a:miter/>
          </a:ln>
        </p:spPr>
      </p:sp>
      <p:sp>
        <p:nvSpPr>
          <p:cNvPr id="126" name="矩形"/>
          <p:cNvSpPr>
            <a:spLocks/>
          </p:cNvSpPr>
          <p:nvPr/>
        </p:nvSpPr>
        <p:spPr>
          <a:xfrm>
            <a:off x="5943599" y="4343400"/>
            <a:ext cx="2468879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Automated Testing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7" name="圆角矩形"/>
          <p:cNvSpPr>
            <a:spLocks/>
          </p:cNvSpPr>
          <p:nvPr/>
        </p:nvSpPr>
        <p:spPr>
          <a:xfrm>
            <a:off x="8641080" y="4343400"/>
            <a:ext cx="2468878" cy="502920"/>
          </a:xfrm>
          <a:prstGeom prst="roundRect">
            <a:avLst>
              <a:gd name="adj" fmla="val 50907"/>
            </a:avLst>
          </a:prstGeom>
          <a:solidFill>
            <a:srgbClr val="21295C"/>
          </a:solidFill>
          <a:ln w="12700" cap="flat" cmpd="sng">
            <a:noFill/>
            <a:prstDash val="solid"/>
            <a:miter/>
          </a:ln>
        </p:spPr>
      </p:sp>
      <p:sp>
        <p:nvSpPr>
          <p:cNvPr id="128" name="矩形"/>
          <p:cNvSpPr>
            <a:spLocks/>
          </p:cNvSpPr>
          <p:nvPr/>
        </p:nvSpPr>
        <p:spPr>
          <a:xfrm>
            <a:off x="8641080" y="4343400"/>
            <a:ext cx="2468878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0" b="1" i="0" u="none" strike="noStrike" kern="1200" cap="none" spc="0" baseline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Container Orchestration</a:t>
            </a:r>
            <a:endParaRPr lang="zh-CN" altLang="en-US" sz="13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29" name="圆角矩形"/>
          <p:cNvSpPr>
            <a:spLocks/>
          </p:cNvSpPr>
          <p:nvPr/>
        </p:nvSpPr>
        <p:spPr>
          <a:xfrm>
            <a:off x="548640" y="5532120"/>
            <a:ext cx="10332720" cy="777240"/>
          </a:xfrm>
          <a:prstGeom prst="roundRect">
            <a:avLst>
              <a:gd name="adj" fmla="val 11763"/>
            </a:avLst>
          </a:prstGeom>
          <a:solidFill>
            <a:srgbClr val="E4EEF2"/>
          </a:solidFill>
          <a:ln w="12700" cap="flat" cmpd="sng">
            <a:noFill/>
            <a:prstDash val="solid"/>
            <a:miter/>
          </a:ln>
        </p:spPr>
      </p:sp>
      <p:sp>
        <p:nvSpPr>
          <p:cNvPr id="130" name="矩形"/>
          <p:cNvSpPr>
            <a:spLocks/>
          </p:cNvSpPr>
          <p:nvPr/>
        </p:nvSpPr>
        <p:spPr>
          <a:xfrm>
            <a:off x="822960" y="5623560"/>
            <a:ext cx="9784080" cy="5943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065A82"/>
                </a:solidFill>
                <a:latin typeface="Calibri" charset="0"/>
                <a:ea typeface="Calibri" charset="0"/>
                <a:cs typeface="Calibri" charset="0"/>
              </a:rPr>
              <a:t>Cloud role: </a:t>
            </a: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cloud platforms (AWS, Azure, GCP) provide elastic build agents, and native pipeline services (CodePipeline, Azure DevOps, Cloud Build) that scale pipelines on demand.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8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矩形"/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The DevOps Toolchain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>
            <a:off x="548640" y="1051560"/>
            <a:ext cx="10515600" cy="4571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Popular tools mapped to each pipeline stage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5" name="圆角矩形"/>
          <p:cNvSpPr>
            <a:spLocks/>
          </p:cNvSpPr>
          <p:nvPr/>
        </p:nvSpPr>
        <p:spPr>
          <a:xfrm>
            <a:off x="548640" y="1828800"/>
            <a:ext cx="2926078" cy="676655"/>
          </a:xfrm>
          <a:prstGeom prst="roundRect">
            <a:avLst>
              <a:gd name="adj" fmla="val 10810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36" name="图片" descr="/home/claude/devops-ppt/icons/sourcecontrol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713232" y="2020824"/>
            <a:ext cx="292608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37" name="矩形"/>
          <p:cNvSpPr>
            <a:spLocks/>
          </p:cNvSpPr>
          <p:nvPr/>
        </p:nvSpPr>
        <p:spPr>
          <a:xfrm>
            <a:off x="1143000" y="1828800"/>
            <a:ext cx="2286000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Source Control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38" name="圆角矩形"/>
          <p:cNvSpPr>
            <a:spLocks/>
          </p:cNvSpPr>
          <p:nvPr/>
        </p:nvSpPr>
        <p:spPr>
          <a:xfrm>
            <a:off x="3657600" y="1828800"/>
            <a:ext cx="7223761" cy="676655"/>
          </a:xfrm>
          <a:prstGeom prst="roundRect">
            <a:avLst>
              <a:gd name="adj" fmla="val 10810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</p:spPr>
      </p:sp>
      <p:sp>
        <p:nvSpPr>
          <p:cNvPr id="139" name="矩形"/>
          <p:cNvSpPr>
            <a:spLocks/>
          </p:cNvSpPr>
          <p:nvPr/>
        </p:nvSpPr>
        <p:spPr>
          <a:xfrm>
            <a:off x="3886200" y="1828800"/>
            <a:ext cx="6766559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Git, GitHub, GitLab, Bitbucket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0" name="圆角矩形"/>
          <p:cNvSpPr>
            <a:spLocks/>
          </p:cNvSpPr>
          <p:nvPr/>
        </p:nvSpPr>
        <p:spPr>
          <a:xfrm>
            <a:off x="548640" y="2670048"/>
            <a:ext cx="2926078" cy="676655"/>
          </a:xfrm>
          <a:prstGeom prst="roundRect">
            <a:avLst>
              <a:gd name="adj" fmla="val 10810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141" name="图片" descr="/home/claude/devops-ppt/icons/cicdengines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713232" y="2862072"/>
            <a:ext cx="292608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2" name="矩形"/>
          <p:cNvSpPr>
            <a:spLocks/>
          </p:cNvSpPr>
          <p:nvPr/>
        </p:nvSpPr>
        <p:spPr>
          <a:xfrm>
            <a:off x="1143000" y="2670048"/>
            <a:ext cx="2286000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CI/CD Engines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3" name="圆角矩形"/>
          <p:cNvSpPr>
            <a:spLocks/>
          </p:cNvSpPr>
          <p:nvPr/>
        </p:nvSpPr>
        <p:spPr>
          <a:xfrm>
            <a:off x="3657600" y="2670048"/>
            <a:ext cx="7223761" cy="676655"/>
          </a:xfrm>
          <a:prstGeom prst="roundRect">
            <a:avLst>
              <a:gd name="adj" fmla="val 10810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</p:spPr>
      </p:sp>
      <p:sp>
        <p:nvSpPr>
          <p:cNvPr id="144" name="矩形"/>
          <p:cNvSpPr>
            <a:spLocks/>
          </p:cNvSpPr>
          <p:nvPr/>
        </p:nvSpPr>
        <p:spPr>
          <a:xfrm>
            <a:off x="3886200" y="2670048"/>
            <a:ext cx="6766559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Jenkins, GitHub Actions, GitLab CI, CircleCI, Azure Pipelines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5" name="圆角矩形"/>
          <p:cNvSpPr>
            <a:spLocks/>
          </p:cNvSpPr>
          <p:nvPr/>
        </p:nvSpPr>
        <p:spPr>
          <a:xfrm>
            <a:off x="548640" y="3511296"/>
            <a:ext cx="2926078" cy="676655"/>
          </a:xfrm>
          <a:prstGeom prst="roundRect">
            <a:avLst>
              <a:gd name="adj" fmla="val 10810"/>
            </a:avLst>
          </a:prstGeom>
          <a:solidFill>
            <a:srgbClr val="21295C"/>
          </a:solidFill>
          <a:ln w="12700" cap="flat" cmpd="sng">
            <a:noFill/>
            <a:prstDash val="solid"/>
            <a:miter/>
          </a:ln>
        </p:spPr>
      </p:sp>
      <p:pic>
        <p:nvPicPr>
          <p:cNvPr id="146" name="图片" descr="/home/claude/devops-ppt/icons/configiac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713232" y="3703319"/>
            <a:ext cx="292608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7" name="矩形"/>
          <p:cNvSpPr>
            <a:spLocks/>
          </p:cNvSpPr>
          <p:nvPr/>
        </p:nvSpPr>
        <p:spPr>
          <a:xfrm>
            <a:off x="1143000" y="3511296"/>
            <a:ext cx="2286000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Configuration &amp; IaC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48" name="圆角矩形"/>
          <p:cNvSpPr>
            <a:spLocks/>
          </p:cNvSpPr>
          <p:nvPr/>
        </p:nvSpPr>
        <p:spPr>
          <a:xfrm>
            <a:off x="3657600" y="3511296"/>
            <a:ext cx="7223761" cy="676655"/>
          </a:xfrm>
          <a:prstGeom prst="roundRect">
            <a:avLst>
              <a:gd name="adj" fmla="val 10810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</p:spPr>
      </p:sp>
      <p:sp>
        <p:nvSpPr>
          <p:cNvPr id="149" name="矩形"/>
          <p:cNvSpPr>
            <a:spLocks/>
          </p:cNvSpPr>
          <p:nvPr/>
        </p:nvSpPr>
        <p:spPr>
          <a:xfrm>
            <a:off x="3886200" y="3511296"/>
            <a:ext cx="6766559" cy="676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Terraform, Ansible, AWS CloudFormation, Pulumi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0" name="圆角矩形"/>
          <p:cNvSpPr>
            <a:spLocks/>
          </p:cNvSpPr>
          <p:nvPr/>
        </p:nvSpPr>
        <p:spPr>
          <a:xfrm>
            <a:off x="548640" y="4352544"/>
            <a:ext cx="2926078" cy="676654"/>
          </a:xfrm>
          <a:prstGeom prst="roundRect">
            <a:avLst>
              <a:gd name="adj" fmla="val 10810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pic>
        <p:nvPicPr>
          <p:cNvPr id="151" name="图片" descr="/home/claude/devops-ppt/icons/containers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713232" y="4544568"/>
            <a:ext cx="292608" cy="29260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52" name="矩形"/>
          <p:cNvSpPr>
            <a:spLocks/>
          </p:cNvSpPr>
          <p:nvPr/>
        </p:nvSpPr>
        <p:spPr>
          <a:xfrm>
            <a:off x="1143000" y="4352544"/>
            <a:ext cx="2286000" cy="6766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Containers &amp; Orchestration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3" name="圆角矩形"/>
          <p:cNvSpPr>
            <a:spLocks/>
          </p:cNvSpPr>
          <p:nvPr/>
        </p:nvSpPr>
        <p:spPr>
          <a:xfrm>
            <a:off x="3657600" y="4352544"/>
            <a:ext cx="7223761" cy="676654"/>
          </a:xfrm>
          <a:prstGeom prst="roundRect">
            <a:avLst>
              <a:gd name="adj" fmla="val 10810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</p:spPr>
      </p:sp>
      <p:sp>
        <p:nvSpPr>
          <p:cNvPr id="154" name="矩形"/>
          <p:cNvSpPr>
            <a:spLocks/>
          </p:cNvSpPr>
          <p:nvPr/>
        </p:nvSpPr>
        <p:spPr>
          <a:xfrm>
            <a:off x="3886200" y="4352544"/>
            <a:ext cx="6766559" cy="6766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Docker, Kubernetes, Helm, Amazon ECS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5" name="圆角矩形"/>
          <p:cNvSpPr>
            <a:spLocks/>
          </p:cNvSpPr>
          <p:nvPr/>
        </p:nvSpPr>
        <p:spPr>
          <a:xfrm>
            <a:off x="548640" y="5193792"/>
            <a:ext cx="2926078" cy="676654"/>
          </a:xfrm>
          <a:prstGeom prst="roundRect">
            <a:avLst>
              <a:gd name="adj" fmla="val 10810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156" name="图片" descr="/home/claude/devops-ppt/icons/monitoring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713232" y="5385816"/>
            <a:ext cx="292608" cy="29260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57" name="矩形"/>
          <p:cNvSpPr>
            <a:spLocks/>
          </p:cNvSpPr>
          <p:nvPr/>
        </p:nvSpPr>
        <p:spPr>
          <a:xfrm>
            <a:off x="1143000" y="5193792"/>
            <a:ext cx="2286000" cy="6766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Monitoring &amp; Logging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58" name="圆角矩形"/>
          <p:cNvSpPr>
            <a:spLocks/>
          </p:cNvSpPr>
          <p:nvPr/>
        </p:nvSpPr>
        <p:spPr>
          <a:xfrm>
            <a:off x="3657600" y="5193792"/>
            <a:ext cx="7223761" cy="676654"/>
          </a:xfrm>
          <a:prstGeom prst="roundRect">
            <a:avLst>
              <a:gd name="adj" fmla="val 10810"/>
            </a:avLst>
          </a:prstGeom>
          <a:solidFill>
            <a:srgbClr val="F4F8FA"/>
          </a:solidFill>
          <a:ln w="12700" cap="flat" cmpd="sng">
            <a:noFill/>
            <a:prstDash val="solid"/>
            <a:miter/>
          </a:ln>
        </p:spPr>
      </p:sp>
      <p:sp>
        <p:nvSpPr>
          <p:cNvPr id="159" name="矩形"/>
          <p:cNvSpPr>
            <a:spLocks/>
          </p:cNvSpPr>
          <p:nvPr/>
        </p:nvSpPr>
        <p:spPr>
          <a:xfrm>
            <a:off x="3886200" y="5193792"/>
            <a:ext cx="6766559" cy="6766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Prometheus, Grafana, ELK Stack, Datadog, CloudWatch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"/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Why It Matters: Benefits</a:t>
            </a:r>
            <a:endParaRPr lang="zh-CN" altLang="en-US" sz="3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3" name="圆角矩形"/>
          <p:cNvSpPr>
            <a:spLocks/>
          </p:cNvSpPr>
          <p:nvPr/>
        </p:nvSpPr>
        <p:spPr>
          <a:xfrm>
            <a:off x="548640" y="160020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164" name="图片" descr="/home/claude/devops-ppt/icons/speed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1993392" y="1801368"/>
            <a:ext cx="402336" cy="4023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65" name="矩形"/>
          <p:cNvSpPr>
            <a:spLocks/>
          </p:cNvSpPr>
          <p:nvPr/>
        </p:nvSpPr>
        <p:spPr>
          <a:xfrm>
            <a:off x="339093" y="2009779"/>
            <a:ext cx="3291840" cy="685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10x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6" name="矩形"/>
          <p:cNvSpPr>
            <a:spLocks/>
          </p:cNvSpPr>
          <p:nvPr/>
        </p:nvSpPr>
        <p:spPr>
          <a:xfrm>
            <a:off x="634367" y="2710911"/>
            <a:ext cx="3166808" cy="9900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E8F6F6"/>
                </a:solidFill>
                <a:latin typeface="Calibri" charset="0"/>
                <a:ea typeface="Calibri" charset="0"/>
                <a:cs typeface="Calibri" charset="0"/>
              </a:rPr>
              <a:t>More frequent deployments than traditional release cycles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67" name="圆角矩形"/>
          <p:cNvSpPr>
            <a:spLocks/>
          </p:cNvSpPr>
          <p:nvPr/>
        </p:nvSpPr>
        <p:spPr>
          <a:xfrm>
            <a:off x="4160520" y="160020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168" name="图片" descr="/home/claude/devops-ppt/icons/shield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5605272" y="1801368"/>
            <a:ext cx="402336" cy="4023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69" name="矩形"/>
          <p:cNvSpPr>
            <a:spLocks/>
          </p:cNvSpPr>
          <p:nvPr/>
        </p:nvSpPr>
        <p:spPr>
          <a:xfrm>
            <a:off x="4160520" y="2000254"/>
            <a:ext cx="3291840" cy="6857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60%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0" name="矩形"/>
          <p:cNvSpPr>
            <a:spLocks/>
          </p:cNvSpPr>
          <p:nvPr/>
        </p:nvSpPr>
        <p:spPr>
          <a:xfrm>
            <a:off x="4379595" y="2860096"/>
            <a:ext cx="2846280" cy="6165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E8F6F6"/>
                </a:solidFill>
                <a:latin typeface="Calibri" charset="0"/>
                <a:ea typeface="Calibri" charset="0"/>
                <a:cs typeface="Calibri" charset="0"/>
              </a:rPr>
              <a:t>Fewer production failures with automated testing gates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1" name="圆角矩形"/>
          <p:cNvSpPr>
            <a:spLocks/>
          </p:cNvSpPr>
          <p:nvPr/>
        </p:nvSpPr>
        <p:spPr>
          <a:xfrm>
            <a:off x="7772400" y="1600200"/>
            <a:ext cx="3291839" cy="2148840"/>
          </a:xfrm>
          <a:prstGeom prst="roundRect">
            <a:avLst>
              <a:gd name="adj" fmla="val 5106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172" name="图片" descr="/home/claude/devops-ppt/icons/rollback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9217152" y="1801368"/>
            <a:ext cx="402336" cy="4023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73" name="矩形"/>
          <p:cNvSpPr>
            <a:spLocks/>
          </p:cNvSpPr>
          <p:nvPr/>
        </p:nvSpPr>
        <p:spPr>
          <a:xfrm>
            <a:off x="7724776" y="1933580"/>
            <a:ext cx="3291839" cy="6857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24x</a:t>
            </a:r>
            <a:endParaRPr lang="zh-CN" altLang="en-US" sz="4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4" name="矩形"/>
          <p:cNvSpPr>
            <a:spLocks/>
          </p:cNvSpPr>
          <p:nvPr/>
        </p:nvSpPr>
        <p:spPr>
          <a:xfrm>
            <a:off x="8000999" y="2817497"/>
            <a:ext cx="2834639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E8F6F6"/>
                </a:solidFill>
                <a:latin typeface="Calibri" charset="0"/>
                <a:ea typeface="Calibri" charset="0"/>
                <a:cs typeface="Calibri" charset="0"/>
              </a:rPr>
              <a:t>Faster recovery from incidents with CI/CD rollback tooling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>
            <a:off x="548640" y="4114800"/>
            <a:ext cx="10332720" cy="20116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Faster time-to-market for new features and fixes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Higher software quality via consistent automated testing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Better collaboration between development and operations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2400" b="0" i="0" u="none" strike="noStrike" kern="1200" cap="none" spc="0" baseline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Scalable, elastic infrastructure aligned with cloud-native design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7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"/>
          <p:cNvSpPr>
            <a:spLocks/>
          </p:cNvSpPr>
          <p:nvPr/>
        </p:nvSpPr>
        <p:spPr>
          <a:xfrm>
            <a:off x="548640" y="365760"/>
            <a:ext cx="10607040" cy="6400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Practical Example: E-Commerce App on AWS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>
            <a:off x="548640" y="987551"/>
            <a:ext cx="10515600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1" u="none" strike="noStrike" kern="1200" cap="none" spc="0" baseline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End-to-end CI/CD implementation using GitHub Actions and AWS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0" name="圆角矩形"/>
          <p:cNvSpPr>
            <a:spLocks/>
          </p:cNvSpPr>
          <p:nvPr/>
        </p:nvSpPr>
        <p:spPr>
          <a:xfrm>
            <a:off x="548640" y="1691639"/>
            <a:ext cx="73150" cy="713231"/>
          </a:xfrm>
          <a:prstGeom prst="roundRect">
            <a:avLst>
              <a:gd name="adj" fmla="val 16666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sp>
        <p:nvSpPr>
          <p:cNvPr id="181" name="矩形"/>
          <p:cNvSpPr>
            <a:spLocks/>
          </p:cNvSpPr>
          <p:nvPr/>
        </p:nvSpPr>
        <p:spPr>
          <a:xfrm>
            <a:off x="822960" y="1691639"/>
            <a:ext cx="283464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1. Commit &amp; Trigger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>
            <a:off x="3749040" y="1691639"/>
            <a:ext cx="713232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Developer pushes code to GitHub; a GitHub Actions workflow triggers automatically on push to main.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3" name="圆角矩形"/>
          <p:cNvSpPr>
            <a:spLocks/>
          </p:cNvSpPr>
          <p:nvPr/>
        </p:nvSpPr>
        <p:spPr>
          <a:xfrm>
            <a:off x="548640" y="2587752"/>
            <a:ext cx="73150" cy="713231"/>
          </a:xfrm>
          <a:prstGeom prst="roundRect">
            <a:avLst>
              <a:gd name="adj" fmla="val 16666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sp>
        <p:nvSpPr>
          <p:cNvPr id="184" name="矩形"/>
          <p:cNvSpPr>
            <a:spLocks/>
          </p:cNvSpPr>
          <p:nvPr/>
        </p:nvSpPr>
        <p:spPr>
          <a:xfrm>
            <a:off x="822960" y="2587752"/>
            <a:ext cx="283464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2. Build &amp; Test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5" name="矩形"/>
          <p:cNvSpPr>
            <a:spLocks/>
          </p:cNvSpPr>
          <p:nvPr/>
        </p:nvSpPr>
        <p:spPr>
          <a:xfrm>
            <a:off x="3749040" y="2587752"/>
            <a:ext cx="713232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Workflow installs dependencies, runs unit tests, and builds a Docker image of the application.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6" name="圆角矩形"/>
          <p:cNvSpPr>
            <a:spLocks/>
          </p:cNvSpPr>
          <p:nvPr/>
        </p:nvSpPr>
        <p:spPr>
          <a:xfrm>
            <a:off x="548640" y="3483863"/>
            <a:ext cx="73150" cy="713231"/>
          </a:xfrm>
          <a:prstGeom prst="roundRect">
            <a:avLst>
              <a:gd name="adj" fmla="val 16666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sp>
        <p:nvSpPr>
          <p:cNvPr id="187" name="矩形"/>
          <p:cNvSpPr>
            <a:spLocks/>
          </p:cNvSpPr>
          <p:nvPr/>
        </p:nvSpPr>
        <p:spPr>
          <a:xfrm>
            <a:off x="822960" y="3483863"/>
            <a:ext cx="283464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3. Push to Registry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8" name="矩形"/>
          <p:cNvSpPr>
            <a:spLocks/>
          </p:cNvSpPr>
          <p:nvPr/>
        </p:nvSpPr>
        <p:spPr>
          <a:xfrm>
            <a:off x="3749040" y="3483863"/>
            <a:ext cx="7132320" cy="7132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Tested image is tagged and pushed to Amazon Elastic Container Registry (ECR).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89" name="圆角矩形"/>
          <p:cNvSpPr>
            <a:spLocks/>
          </p:cNvSpPr>
          <p:nvPr/>
        </p:nvSpPr>
        <p:spPr>
          <a:xfrm>
            <a:off x="548640" y="4379976"/>
            <a:ext cx="73150" cy="713230"/>
          </a:xfrm>
          <a:prstGeom prst="roundRect">
            <a:avLst>
              <a:gd name="adj" fmla="val 16666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sp>
        <p:nvSpPr>
          <p:cNvPr id="190" name="矩形"/>
          <p:cNvSpPr>
            <a:spLocks/>
          </p:cNvSpPr>
          <p:nvPr/>
        </p:nvSpPr>
        <p:spPr>
          <a:xfrm>
            <a:off x="822960" y="4379976"/>
            <a:ext cx="2834640" cy="7132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4. Deploy to Cloud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1" name="矩形"/>
          <p:cNvSpPr>
            <a:spLocks/>
          </p:cNvSpPr>
          <p:nvPr/>
        </p:nvSpPr>
        <p:spPr>
          <a:xfrm>
            <a:off x="3749040" y="4379976"/>
            <a:ext cx="7132320" cy="7132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AWS </a:t>
            </a:r>
            <a:r>
              <a:rPr lang="en-US" altLang="zh-CN" b="0" i="0" u="none" strike="noStrike" kern="1200" cap="none" spc="0" baseline="0" dirty="0" err="1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CodeDeploy</a:t>
            </a: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 (or ECS rolling update) pulls the new image and deploys it to an ECS Fargate cluster.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2" name="圆角矩形"/>
          <p:cNvSpPr>
            <a:spLocks/>
          </p:cNvSpPr>
          <p:nvPr/>
        </p:nvSpPr>
        <p:spPr>
          <a:xfrm>
            <a:off x="548640" y="5276088"/>
            <a:ext cx="73150" cy="713232"/>
          </a:xfrm>
          <a:prstGeom prst="roundRect">
            <a:avLst>
              <a:gd name="adj" fmla="val 16666"/>
            </a:avLst>
          </a:prstGeom>
          <a:solidFill>
            <a:srgbClr val="065A82"/>
          </a:solidFill>
          <a:ln w="12700" cap="flat" cmpd="sng">
            <a:noFill/>
            <a:prstDash val="solid"/>
            <a:miter/>
          </a:ln>
        </p:spPr>
      </p:sp>
      <p:sp>
        <p:nvSpPr>
          <p:cNvPr id="193" name="矩形"/>
          <p:cNvSpPr>
            <a:spLocks/>
          </p:cNvSpPr>
          <p:nvPr/>
        </p:nvSpPr>
        <p:spPr>
          <a:xfrm>
            <a:off x="822960" y="5276088"/>
            <a:ext cx="2834640" cy="7132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1" i="0" u="none" strike="noStrike" kern="1200" cap="none" spc="0" baseline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5. Monitor &amp; Rollback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4" name="矩形"/>
          <p:cNvSpPr>
            <a:spLocks/>
          </p:cNvSpPr>
          <p:nvPr/>
        </p:nvSpPr>
        <p:spPr>
          <a:xfrm>
            <a:off x="3749040" y="5276088"/>
            <a:ext cx="7132320" cy="7132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kern="1200" cap="none" spc="0" baseline="0" dirty="0">
                <a:solidFill>
                  <a:srgbClr val="5B6B79"/>
                </a:solidFill>
                <a:latin typeface="Calibri" charset="0"/>
                <a:ea typeface="Calibri" charset="0"/>
                <a:cs typeface="Calibri" charset="0"/>
              </a:rPr>
              <a:t>Amazon CloudWatch tracks health metrics; a failed health check auto-triggers rollback to the last stable version.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0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"/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 dirty="0">
                <a:solidFill>
                  <a:srgbClr val="16213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Challenges &amp; Best Practices</a:t>
            </a:r>
            <a:endParaRPr lang="zh-CN" altLang="en-US" sz="36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198" name="圆角矩形"/>
          <p:cNvSpPr>
            <a:spLocks/>
          </p:cNvSpPr>
          <p:nvPr/>
        </p:nvSpPr>
        <p:spPr>
          <a:xfrm>
            <a:off x="548640" y="1508758"/>
            <a:ext cx="5074920" cy="4709160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12700" cap="flat" cmpd="sng">
            <a:solidFill>
              <a:srgbClr val="D8E3E7"/>
            </a:solidFill>
            <a:prstDash val="solid"/>
            <a:round/>
          </a:ln>
          <a:effectLst>
            <a:outerShdw blurRad="76200" dist="25400" dir="5400000" algn="bl" rotWithShape="0">
              <a:srgbClr val="365E7D">
                <a:alpha val="11764"/>
              </a:srgbClr>
            </a:outerShdw>
          </a:effectLst>
        </p:spPr>
      </p:sp>
      <p:pic>
        <p:nvPicPr>
          <p:cNvPr id="199" name="图片" descr="/home/claude/devops-ppt/icons/warning_deep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822960" y="1801368"/>
            <a:ext cx="36576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00" name="矩形"/>
          <p:cNvSpPr>
            <a:spLocks/>
          </p:cNvSpPr>
          <p:nvPr/>
        </p:nvSpPr>
        <p:spPr>
          <a:xfrm>
            <a:off x="1325880" y="1783080"/>
            <a:ext cx="4069079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65A82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Common Challenges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1" name="矩形"/>
          <p:cNvSpPr>
            <a:spLocks/>
          </p:cNvSpPr>
          <p:nvPr/>
        </p:nvSpPr>
        <p:spPr>
          <a:xfrm>
            <a:off x="822960" y="2377440"/>
            <a:ext cx="4526280" cy="36118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2000" b="0" i="0" u="none" strike="noStrike" kern="1200" cap="none" spc="0" baseline="0" dirty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Cultural resistance to cross-team collaboration</a:t>
            </a: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2000" b="0" i="0" u="none" strike="noStrike" kern="1200" cap="none" spc="0" baseline="0" dirty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Legacy systems that resist automation</a:t>
            </a: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2000" b="0" i="0" u="none" strike="noStrike" kern="1200" cap="none" spc="0" baseline="0" dirty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Security integration ("shift-left") slows initial adoption</a:t>
            </a: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2000" b="0" i="0" u="none" strike="noStrike" kern="1200" cap="none" spc="0" baseline="0" dirty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Managing pipeline complexity at scale</a:t>
            </a:r>
            <a:endParaRPr lang="en-US" altLang="zh-CN" sz="2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sz="2000" b="0" i="0" u="none" strike="noStrike" kern="1200" cap="none" spc="0" baseline="0" dirty="0">
                <a:solidFill>
                  <a:srgbClr val="16213E"/>
                </a:solidFill>
                <a:latin typeface="Calibri" charset="0"/>
                <a:ea typeface="Calibri" charset="0"/>
                <a:cs typeface="Calibri" charset="0"/>
              </a:rPr>
              <a:t>Tool sprawl across teams and environments</a:t>
            </a:r>
            <a:endParaRPr lang="zh-CN" altLang="en-US" sz="2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2" name="圆角矩形"/>
          <p:cNvSpPr>
            <a:spLocks/>
          </p:cNvSpPr>
          <p:nvPr/>
        </p:nvSpPr>
        <p:spPr>
          <a:xfrm>
            <a:off x="5989320" y="1508758"/>
            <a:ext cx="5074920" cy="4709160"/>
          </a:xfrm>
          <a:prstGeom prst="roundRect">
            <a:avLst>
              <a:gd name="adj" fmla="val 2328"/>
            </a:avLst>
          </a:prstGeom>
          <a:solidFill>
            <a:srgbClr val="1C7293"/>
          </a:solidFill>
          <a:ln w="12700" cap="flat" cmpd="sng">
            <a:noFill/>
            <a:prstDash val="solid"/>
            <a:miter/>
          </a:ln>
        </p:spPr>
      </p:sp>
      <p:pic>
        <p:nvPicPr>
          <p:cNvPr id="203" name="图片" descr="/home/claude/devops-ppt/icons/check_white.png"/>
          <p:cNvPicPr>
            <a:picLocks noChangeAspect="1"/>
          </p:cNvPicPr>
          <p:nvPr/>
        </p:nvPicPr>
        <p:blipFill>
          <a:blip cstate="print"/>
          <a:stretch>
            <a:fillRect/>
          </a:stretch>
        </p:blipFill>
        <p:spPr>
          <a:xfrm>
            <a:off x="6263640" y="1801368"/>
            <a:ext cx="365758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04" name="矩形"/>
          <p:cNvSpPr>
            <a:spLocks/>
          </p:cNvSpPr>
          <p:nvPr/>
        </p:nvSpPr>
        <p:spPr>
          <a:xfrm>
            <a:off x="6766559" y="1783080"/>
            <a:ext cx="4023358" cy="457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Best Practices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05" name="矩形"/>
          <p:cNvSpPr>
            <a:spLocks/>
          </p:cNvSpPr>
          <p:nvPr/>
        </p:nvSpPr>
        <p:spPr>
          <a:xfrm>
            <a:off x="6263640" y="2377440"/>
            <a:ext cx="4526280" cy="36118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Start small: automate one pipeline stage at a time</a:t>
            </a:r>
            <a:endParaRPr lang="en-US" altLang="zh-CN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Adopt Infrastructure as Code for repeatable environments</a:t>
            </a:r>
            <a:endParaRPr lang="en-US" altLang="zh-CN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Bake security scans into the pipeline (</a:t>
            </a:r>
            <a:r>
              <a:rPr lang="en-US" altLang="zh-CN" b="0" i="0" u="none" strike="noStrike" kern="1200" cap="none" spc="0" baseline="0" dirty="0" err="1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DevSecOps</a:t>
            </a: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  <a:endParaRPr lang="en-US" altLang="zh-CN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Use feature flags for safer, gradual rollouts</a:t>
            </a:r>
            <a:endParaRPr lang="en-US" altLang="zh-CN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Char char="•"/>
            </a:pPr>
            <a:r>
              <a:rPr lang="en-US" altLang="zh-CN" b="0" i="0" u="none" strike="noStrike" kern="1200" cap="none" spc="0" baseline="0" dirty="0">
                <a:solidFill>
                  <a:srgbClr val="FFFFFF"/>
                </a:solidFill>
                <a:latin typeface="Calibri" charset="0"/>
                <a:ea typeface="Calibri" charset="0"/>
                <a:cs typeface="Calibri" charset="0"/>
              </a:rPr>
              <a:t>Track DORA metrics to measure real progress</a:t>
            </a:r>
            <a:endParaRPr lang="zh-CN" altLang="en-US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65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椭圆"/>
          <p:cNvSpPr>
            <a:spLocks/>
          </p:cNvSpPr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 cap="flat" cmpd="sng">
            <a:noFill/>
            <a:prstDash val="solid"/>
            <a:miter/>
          </a:ln>
        </p:spPr>
      </p:sp>
      <p:sp>
        <p:nvSpPr>
          <p:cNvPr id="209" name="椭圆"/>
          <p:cNvSpPr>
            <a:spLocks/>
          </p:cNvSpPr>
          <p:nvPr/>
        </p:nvSpPr>
        <p:spPr>
          <a:xfrm>
            <a:off x="-1371600" y="4754880"/>
            <a:ext cx="3291840" cy="3291838"/>
          </a:xfrm>
          <a:prstGeom prst="ellipse">
            <a:avLst/>
          </a:prstGeom>
          <a:solidFill>
            <a:srgbClr val="3FC1C9">
              <a:alpha val="20000"/>
            </a:srgbClr>
          </a:solidFill>
          <a:ln w="12700" cap="flat" cmpd="sng">
            <a:noFill/>
            <a:prstDash val="solid"/>
            <a:miter/>
          </a:ln>
        </p:spPr>
      </p:sp>
      <p:sp>
        <p:nvSpPr>
          <p:cNvPr id="211" name="矩形"/>
          <p:cNvSpPr>
            <a:spLocks/>
          </p:cNvSpPr>
          <p:nvPr/>
        </p:nvSpPr>
        <p:spPr>
          <a:xfrm>
            <a:off x="548640" y="2103120"/>
            <a:ext cx="10515600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0" cap="none" spc="200" baseline="0" dirty="0">
                <a:solidFill>
                  <a:srgbClr val="3FC1C9"/>
                </a:solidFill>
                <a:latin typeface="Calibri" charset="0"/>
                <a:ea typeface="Calibri" charset="0"/>
                <a:cs typeface="Calibri" charset="0"/>
              </a:rPr>
              <a:t>Key Takeaway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2" name="矩形"/>
          <p:cNvSpPr>
            <a:spLocks/>
          </p:cNvSpPr>
          <p:nvPr/>
        </p:nvSpPr>
        <p:spPr>
          <a:xfrm>
            <a:off x="548640" y="2651760"/>
            <a:ext cx="10515600" cy="14630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i="0" u="none" strike="noStrike" kern="1200" cap="none" spc="0" baseline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DevOps + CI/CD turn cloud infrastructure into a continuous, reliable delivery engine.</a:t>
            </a: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  <p:sp>
        <p:nvSpPr>
          <p:cNvPr id="213" name="矩形"/>
          <p:cNvSpPr>
            <a:spLocks/>
          </p:cNvSpPr>
          <p:nvPr/>
        </p:nvSpPr>
        <p:spPr>
          <a:xfrm>
            <a:off x="548640" y="4206240"/>
            <a:ext cx="9601200" cy="5486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1" u="none" strike="noStrike" kern="1200" cap="none" spc="0" baseline="0" dirty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Automate relentlessly. Measure everything. Ship with confidence</a:t>
            </a:r>
            <a:r>
              <a:rPr lang="en-US" altLang="zh-CN" sz="1800" b="0" i="1" u="none" strike="noStrike" kern="1200" cap="none" spc="0" baseline="0" dirty="0">
                <a:solidFill>
                  <a:srgbClr val="CADCFC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等线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40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">
            <a:extLst>
              <a:ext uri="{FF2B5EF4-FFF2-40B4-BE49-F238E27FC236}">
                <a16:creationId xmlns:a16="http://schemas.microsoft.com/office/drawing/2014/main" id="{548110EA-F757-3836-89F6-A9C66B383814}"/>
              </a:ext>
            </a:extLst>
          </p:cNvPr>
          <p:cNvSpPr>
            <a:spLocks/>
          </p:cNvSpPr>
          <p:nvPr/>
        </p:nvSpPr>
        <p:spPr>
          <a:xfrm>
            <a:off x="548640" y="411480"/>
            <a:ext cx="10058401" cy="6400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16213E"/>
                </a:solidFill>
                <a:latin typeface="Times New Roman" panose="02020603050405020304" pitchFamily="18" charset="0"/>
                <a:ea typeface="Cambria" pitchFamily="34" charset="0"/>
                <a:cs typeface="Times New Roman" panose="02020603050405020304" pitchFamily="18" charset="0"/>
              </a:rPr>
              <a:t>GEOTAG PHOTO</a:t>
            </a:r>
            <a:endParaRPr lang="zh-CN" altLang="en-US" sz="4000" b="0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ea typeface="等线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28F19-DE66-93B0-7642-2F3E848F1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33" y="1352939"/>
            <a:ext cx="8640148" cy="50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1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125</TotalTime>
  <Words>765</Words>
  <Application>Microsoft Office PowerPoint</Application>
  <PresentationFormat>Widescreen</PresentationFormat>
  <Paragraphs>129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Droid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cp:lastModifiedBy>Narmatha Jothiraj</cp:lastModifiedBy>
  <cp:revision>1</cp:revision>
  <dcterms:created xsi:type="dcterms:W3CDTF">2026-07-13T17:44:22Z</dcterms:created>
  <dcterms:modified xsi:type="dcterms:W3CDTF">2026-07-23T04:47:52Z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56b11a9bf89649e18eb5162fd900c6a8_23</vt:lpwstr>
  </property>
</Properties>
</file>